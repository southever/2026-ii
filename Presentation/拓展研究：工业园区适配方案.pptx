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1" r:id="rId4"/>
    <p:sldId id="264" r:id="rId5"/>
    <p:sldId id="262" r:id="rId6"/>
    <p:sldId id="265" r:id="rId7"/>
    <p:sldId id="263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5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B6875E-AEA4-42E3-A6DA-2440C2C832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/>
            <p:cNvSpPr/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1" name="Freeform 7"/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/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8" name="Freeform 14"/>
            <p:cNvSpPr/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</p:grpSp>
      <p:cxnSp>
        <p:nvCxnSpPr>
          <p:cNvPr id="19" name="直接连接符 18"/>
          <p:cNvCxnSpPr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75147" y="6578600"/>
            <a:ext cx="2743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6.xml"/><Relationship Id="rId7" Type="http://schemas.openxmlformats.org/officeDocument/2006/relationships/image" Target="../media/image7.png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拓展研究：工业园区适配方案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角矩形 2"/>
          <p:cNvSpPr/>
          <p:nvPr/>
        </p:nvSpPr>
        <p:spPr>
          <a:xfrm>
            <a:off x="482600" y="4568825"/>
            <a:ext cx="2701290" cy="160909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Tx/>
              <a:buSzTx/>
              <a:buNone/>
            </a:pPr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复用原有充放电策略与仿真模型，实现厂区光伏消纳、用电成本优化。</a:t>
            </a: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配图：工厂系统简易拓扑图</a:t>
            </a:r>
            <a:endParaRPr kumimoji="1" lang="zh-CN" altLang="en-US"/>
          </a:p>
        </p:txBody>
      </p:sp>
      <p:sp>
        <p:nvSpPr>
          <p:cNvPr id="13" name="圆角矩形 2"/>
          <p:cNvSpPr/>
          <p:nvPr/>
        </p:nvSpPr>
        <p:spPr>
          <a:xfrm>
            <a:off x="482600" y="2449195"/>
            <a:ext cx="2701290" cy="160909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生产负荷替代家用负荷、工业充电桩替代家用充电桩、适配工业分时电价；</a:t>
            </a:r>
            <a:endParaRPr kumimoji="1" lang="zh-CN" altLang="en-US" sz="2000"/>
          </a:p>
        </p:txBody>
      </p:sp>
      <p:sp>
        <p:nvSpPr>
          <p:cNvPr id="14" name="对角圆角矩形 80"/>
          <p:cNvSpPr/>
          <p:nvPr>
            <p:custDataLst>
              <p:tags r:id="rId1"/>
            </p:custDataLst>
          </p:nvPr>
        </p:nvSpPr>
        <p:spPr>
          <a:xfrm>
            <a:off x="483235" y="2095500"/>
            <a:ext cx="2242820" cy="3536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核心改动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对角圆角矩形 81"/>
          <p:cNvSpPr/>
          <p:nvPr>
            <p:custDataLst>
              <p:tags r:id="rId2"/>
            </p:custDataLst>
          </p:nvPr>
        </p:nvSpPr>
        <p:spPr>
          <a:xfrm>
            <a:off x="482600" y="4192270"/>
            <a:ext cx="2243455" cy="3765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设计目标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958215"/>
            <a:ext cx="7263765" cy="64452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ClrTx/>
              <a:buSzTx/>
              <a:buNone/>
            </a:pPr>
            <a:r>
              <a:rPr lang="zh-CN" altLang="en-US" sz="2000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基于本项目仿真框架，将居民家庭场景拓展为中小型工厂场景；</a:t>
            </a:r>
            <a:endParaRPr kumimoji="1" lang="zh-CN" altLang="en-US" sz="2000"/>
          </a:p>
        </p:txBody>
      </p:sp>
      <p:pic>
        <p:nvPicPr>
          <p:cNvPr id="6" name="图片 5" descr="a282d0fc6e2f6238f41ba2fbe8a3ea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75" y="3079115"/>
            <a:ext cx="6312535" cy="3098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810" y="873125"/>
            <a:ext cx="3918585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两类场景关键参数对</a:t>
            </a:r>
            <a:r>
              <a:rPr lang="zh-CN" altLang="en-US"/>
              <a:t>比</a:t>
            </a:r>
            <a:endParaRPr lang="zh-CN" altLang="en-US"/>
          </a:p>
        </p:txBody>
      </p:sp>
      <p:sp>
        <p:nvSpPr>
          <p:cNvPr id="8" name="对角圆角矩形 80"/>
          <p:cNvSpPr/>
          <p:nvPr>
            <p:custDataLst>
              <p:tags r:id="rId1"/>
            </p:custDataLst>
          </p:nvPr>
        </p:nvSpPr>
        <p:spPr>
          <a:xfrm>
            <a:off x="482600" y="752475"/>
            <a:ext cx="3633470" cy="332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原家庭场景基础参数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5" name="表格 14"/>
          <p:cNvGraphicFramePr/>
          <p:nvPr/>
        </p:nvGraphicFramePr>
        <p:xfrm>
          <a:off x="185420" y="1085215"/>
          <a:ext cx="4441825" cy="5486400"/>
        </p:xfrm>
        <a:graphic>
          <a:graphicData uri="http://schemas.openxmlformats.org/drawingml/2006/table">
            <a:tbl>
              <a:tblPr/>
              <a:tblGrid>
                <a:gridCol w="888365"/>
                <a:gridCol w="888365"/>
                <a:gridCol w="888365"/>
                <a:gridCol w="888365"/>
                <a:gridCol w="888365"/>
              </a:tblGrid>
              <a:tr h="28956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参数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符号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数值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单位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说明 </a:t>
                      </a:r>
                      <a:r>
                        <a:rPr lang="en-US" altLang="zh-CN" sz="1000" b="1"/>
                        <a:t>/ </a:t>
                      </a:r>
                      <a:r>
                        <a:rPr lang="zh-CN" altLang="en-US" sz="1000" b="1"/>
                        <a:t>来源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光伏峰值容量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P</a:t>
                      </a:r>
                      <a:r>
                        <a:rPr lang="en-US" altLang="zh-CN" sz="1000" b="1"/>
                        <a:t>pv,r</a:t>
                      </a:r>
                      <a:r>
                        <a:rPr lang="en-US" altLang="zh-CN" sz="1000" b="1"/>
                        <a:t>ated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6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kWp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城市独栋住宅屋顶常规装机，经验取值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家庭基础日均用电量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E</a:t>
                      </a:r>
                      <a:r>
                        <a:rPr lang="en-US" altLang="zh-CN" sz="1000" b="1"/>
                        <a:t>load</a:t>
                      </a:r>
                      <a:r>
                        <a:rPr lang="en-US" altLang="zh-CN" sz="1000" b="1"/>
                        <a:t>,day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18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三口之家全年平均日用电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电动汽车电池容量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Ee</a:t>
                      </a:r>
                      <a:r>
                        <a:rPr lang="en-US" altLang="zh-CN" sz="1000" b="1"/>
                        <a:t>v,bat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60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主流家用纯电乘用车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电动汽车单位里程耗电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eev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0.16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kWh/km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家用车综合能耗区间内取值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日均通勤里程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dev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40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km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城市日常通勤里程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充电桩额定功率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Pe</a:t>
                      </a:r>
                      <a:r>
                        <a:rPr lang="en-US" altLang="zh-CN" sz="1000" b="1"/>
                        <a:t>v,ch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7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主流家用交流充电桩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储能单程效率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ηbat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0.92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-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磷酸铁锂电池典型效率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分时电价 </a:t>
                      </a:r>
                      <a:r>
                        <a:rPr lang="en-US" altLang="zh-CN" sz="1000" b="1"/>
                        <a:t>- </a:t>
                      </a:r>
                      <a:r>
                        <a:rPr lang="zh-CN" altLang="en-US" sz="1000" b="1"/>
                        <a:t>峰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cpeak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0.62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上海居民分时电价（经验值）</a:t>
                      </a:r>
                      <a:r>
                        <a:rPr lang="en-US" altLang="zh-CN" sz="1000" b="1"/>
                        <a:t>17:00-21:00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分时电价 </a:t>
                      </a:r>
                      <a:r>
                        <a:rPr lang="en-US" altLang="zh-CN" sz="1000" b="1"/>
                        <a:t>- </a:t>
                      </a:r>
                      <a:r>
                        <a:rPr lang="zh-CN" altLang="en-US" sz="1000" b="1"/>
                        <a:t>平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</a:t>
                      </a:r>
                      <a:r>
                        <a:rPr lang="en-US" altLang="zh-CN" sz="1000" b="1"/>
                        <a:t>flat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0.42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7:00-17:00</a:t>
                      </a:r>
                      <a:r>
                        <a:rPr lang="zh-CN" altLang="en-US" sz="1000" b="1"/>
                        <a:t>、</a:t>
                      </a:r>
                      <a:r>
                        <a:rPr lang="en-US" altLang="zh-CN" sz="1000" b="1"/>
                        <a:t>21:00-23:00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956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分时电价 </a:t>
                      </a:r>
                      <a:r>
                        <a:rPr lang="en-US" altLang="zh-CN" sz="1000" b="1"/>
                        <a:t>- </a:t>
                      </a:r>
                      <a:r>
                        <a:rPr lang="zh-CN" altLang="en-US" sz="1000" b="1"/>
                        <a:t>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</a:t>
                      </a:r>
                      <a:r>
                        <a:rPr lang="en-US" altLang="zh-CN" sz="1000" b="1"/>
                        <a:t>valley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0.22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23:00-7:00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余电上网电价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csell</a:t>
                      </a:r>
                      <a:r>
                        <a:rPr lang="en-US" altLang="zh-CN" sz="1000" b="1"/>
                        <a:t>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0.41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居民光伏余电上网标杆电价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4954905" y="1084580"/>
          <a:ext cx="4479925" cy="5485130"/>
        </p:xfrm>
        <a:graphic>
          <a:graphicData uri="http://schemas.openxmlformats.org/drawingml/2006/table">
            <a:tbl>
              <a:tblPr/>
              <a:tblGrid>
                <a:gridCol w="895985"/>
                <a:gridCol w="895985"/>
                <a:gridCol w="895985"/>
                <a:gridCol w="895985"/>
                <a:gridCol w="895985"/>
              </a:tblGrid>
              <a:tr h="30416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参数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符号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数值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单位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说明 </a:t>
                      </a:r>
                      <a:r>
                        <a:rPr lang="en-US" altLang="zh-CN" sz="1000" b="1"/>
                        <a:t>/ </a:t>
                      </a:r>
                      <a:r>
                        <a:rPr lang="zh-CN" altLang="en-US" sz="1000" b="1"/>
                        <a:t>来源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912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光伏峰值容量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Ppv</a:t>
                      </a:r>
                      <a:r>
                        <a:rPr lang="en-US" altLang="zh-CN" sz="1000" b="1"/>
                        <a:t>,rat</a:t>
                      </a:r>
                      <a:r>
                        <a:rPr lang="en-US" altLang="zh-CN" sz="1000" b="1"/>
                        <a:t>ed​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30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kWp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中小型厂房屋顶光伏，经验扩容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工厂基础日均用电量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Elo</a:t>
                      </a:r>
                      <a:r>
                        <a:rPr lang="en-US" altLang="zh-CN" sz="1000" b="1"/>
                        <a:t>ad,d</a:t>
                      </a:r>
                      <a:r>
                        <a:rPr lang="en-US" altLang="zh-CN" sz="1000" b="1"/>
                        <a:t>ay​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260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小型加工车间日均生产用电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厂区新能源车单台电池容量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Eev,</a:t>
                      </a:r>
                      <a:r>
                        <a:rPr lang="en-US" altLang="zh-CN" sz="1000" b="1"/>
                        <a:t>bat​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70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厂区物流 </a:t>
                      </a:r>
                      <a:r>
                        <a:rPr lang="en-US" altLang="zh-CN" sz="1000" b="1"/>
                        <a:t>/ </a:t>
                      </a:r>
                      <a:r>
                        <a:rPr lang="zh-CN" altLang="en-US" sz="1000" b="1"/>
                        <a:t>通勤电动车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单位里程耗电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e</a:t>
                      </a:r>
                      <a:r>
                        <a:rPr lang="en-US" altLang="zh-CN" sz="1000" b="1"/>
                        <a:t>ev​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0.18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kWh/km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商用车能耗，沿用计算逻辑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日均行驶里程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d</a:t>
                      </a:r>
                      <a:r>
                        <a:rPr lang="en-US" altLang="zh-CN" sz="1000" b="1"/>
                        <a:t>ev​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50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km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厂区车辆日均行驶里程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工业充电桩额定功率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Pev,</a:t>
                      </a:r>
                      <a:r>
                        <a:rPr lang="en-US" altLang="zh-CN" sz="1000" b="1"/>
                        <a:t>ch​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15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kW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厂区通用交流充电桩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储能单程效率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η</a:t>
                      </a:r>
                      <a:r>
                        <a:rPr lang="en-US" altLang="zh-CN" sz="1000" b="1"/>
                        <a:t>bat​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0.92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-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与家庭系统完全一致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912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工业电价 </a:t>
                      </a:r>
                      <a:r>
                        <a:rPr lang="en-US" altLang="zh-CN" sz="1000" b="1"/>
                        <a:t>- </a:t>
                      </a:r>
                      <a:r>
                        <a:rPr lang="zh-CN" altLang="en-US" sz="1000" b="1"/>
                        <a:t>峰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cp</a:t>
                      </a:r>
                      <a:r>
                        <a:rPr lang="en-US" altLang="zh-CN" sz="1000" b="1"/>
                        <a:t>eak​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0.85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上海一般工业分时电价（经验值）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工业电价 </a:t>
                      </a:r>
                      <a:r>
                        <a:rPr lang="en-US" altLang="zh-CN" sz="1000" b="1"/>
                        <a:t>- </a:t>
                      </a:r>
                      <a:r>
                        <a:rPr lang="zh-CN" altLang="en-US" sz="1000" b="1"/>
                        <a:t>平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cfl</a:t>
                      </a:r>
                      <a:r>
                        <a:rPr lang="en-US" altLang="zh-CN" sz="1000" b="1"/>
                        <a:t>at​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0.55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工业平时段电价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工业电价 </a:t>
                      </a:r>
                      <a:r>
                        <a:rPr lang="en-US" altLang="zh-CN" sz="1000" b="1"/>
                        <a:t>- </a:t>
                      </a:r>
                      <a:r>
                        <a:rPr lang="zh-CN" altLang="en-US" sz="1000" b="1"/>
                        <a:t>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cva</a:t>
                      </a:r>
                      <a:r>
                        <a:rPr lang="en-US" altLang="zh-CN" sz="1000" b="1"/>
                        <a:t>lley​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0.30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工业谷时段电价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工业余电上网电价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000" b="1"/>
                        <a:t>c</a:t>
                      </a:r>
                      <a:r>
                        <a:rPr lang="en-US" altLang="zh-CN" sz="1000" b="1"/>
                        <a:t>sell​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1"/>
                        <a:t>0.40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元 </a:t>
                      </a:r>
                      <a:r>
                        <a:rPr lang="en-US" altLang="zh-CN" sz="1000" b="1"/>
                        <a:t>/kWh</a:t>
                      </a:r>
                      <a:endParaRPr lang="en-US" altLang="zh-CN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/>
                        <a:t>工业分布式光伏上网电价</a:t>
                      </a:r>
                      <a:endParaRPr lang="zh-CN" altLang="en-US" sz="10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对角圆角矩形 80"/>
          <p:cNvSpPr/>
          <p:nvPr>
            <p:custDataLst>
              <p:tags r:id="rId2"/>
            </p:custDataLst>
          </p:nvPr>
        </p:nvSpPr>
        <p:spPr>
          <a:xfrm>
            <a:off x="5323840" y="752475"/>
            <a:ext cx="3633470" cy="34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工厂场景替换参数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图片 20" descr="9d9000986e1687752b3c48f6ad5593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15" y="1732915"/>
            <a:ext cx="2409190" cy="4836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储能容量与功率选型：边际收益拐点分析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圆角矩形 2"/>
          <p:cNvSpPr/>
          <p:nvPr>
            <p:custDataLst>
              <p:tags r:id="rId1"/>
            </p:custDataLst>
          </p:nvPr>
        </p:nvSpPr>
        <p:spPr>
          <a:xfrm>
            <a:off x="76835" y="1116330"/>
            <a:ext cx="5080000" cy="186309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容量偏小（&lt;15</a:t>
            </a:r>
            <a:r>
              <a:rPr lang="en-US" altLang="zh-CN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kWh）：</a:t>
            </a: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白天光伏大发的富余电量装不下，大量电被迫低价上网，自发自用率提升有限；晚高峰生产 + 充电缺口补不足，削峰效果打折扣。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容量偏大（&gt;30</a:t>
            </a:r>
            <a:r>
              <a:rPr lang="en-US" altLang="zh-CN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kWh）：</a:t>
            </a: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电池投资成本直线上升，但工厂夜间生产负荷有限，多余容量常年闲置，边际收益快速递减，算上电池折旧经济性反而下降。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最优拐点：20</a:t>
            </a:r>
            <a:r>
              <a:rPr lang="en-US" altLang="zh-CN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kWh，</a:t>
            </a: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刚好覆盖日间光伏盈余与晚高峰用电缺口，投资与收益匹配度最高。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对角圆角矩形 80"/>
          <p:cNvSpPr/>
          <p:nvPr>
            <p:custDataLst>
              <p:tags r:id="rId2"/>
            </p:custDataLst>
          </p:nvPr>
        </p:nvSpPr>
        <p:spPr>
          <a:xfrm>
            <a:off x="261620" y="763905"/>
            <a:ext cx="1906905" cy="34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容量维度影响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圆角矩形 2"/>
          <p:cNvSpPr/>
          <p:nvPr>
            <p:custDataLst>
              <p:tags r:id="rId3"/>
            </p:custDataLst>
          </p:nvPr>
        </p:nvSpPr>
        <p:spPr>
          <a:xfrm>
            <a:off x="76200" y="3502660"/>
            <a:ext cx="5079365" cy="178435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功率偏小（&lt;7kW）：中午光伏富余功率高时充不进去，晚高峰缺口大时放不出来，“有电量但传不出来”，消纳和削峰效果都受限。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功率偏大（&gt;15kW）：PCS 设备成本大幅增加，但工厂负荷波动幅度有限，大功率绝大多数时间闲置；同时大电流会增加厂区配电改造成本。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最优拐点：10kW，匹配 30kWp 光伏富余出力与生产负荷波动幅度，性价比最优。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圆角矩形 2"/>
          <p:cNvSpPr/>
          <p:nvPr>
            <p:custDataLst>
              <p:tags r:id="rId4"/>
            </p:custDataLst>
          </p:nvPr>
        </p:nvSpPr>
        <p:spPr>
          <a:xfrm>
            <a:off x="76835" y="5472430"/>
            <a:ext cx="5078730" cy="87566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三种充放电策略下，最优配置均收敛至 20kWh / 10kW，</a:t>
            </a:r>
            <a:r>
              <a:rPr lang="zh-CN" altLang="en-US" sz="14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是工业场景下投资风险最低、边际收益最优的候选方案。</a:t>
            </a:r>
            <a:endParaRPr lang="zh-CN" altLang="en-US" sz="14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对角圆角矩形 80"/>
          <p:cNvSpPr/>
          <p:nvPr>
            <p:custDataLst>
              <p:tags r:id="rId5"/>
            </p:custDataLst>
          </p:nvPr>
        </p:nvSpPr>
        <p:spPr>
          <a:xfrm>
            <a:off x="261620" y="3119755"/>
            <a:ext cx="1906905" cy="382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功率维度影响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fd23fcd1ad72ee84bba31d06760b93b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4185" y="981710"/>
            <a:ext cx="6198235" cy="5366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三种策略运行结果量化对比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1140" y="1443990"/>
            <a:ext cx="9189720" cy="3970020"/>
          </a:xfrm>
          <a:prstGeom prst="rect">
            <a:avLst/>
          </a:prstGeom>
        </p:spPr>
      </p:pic>
      <p:sp>
        <p:nvSpPr>
          <p:cNvPr id="13" name="圆角矩形 2"/>
          <p:cNvSpPr/>
          <p:nvPr/>
        </p:nvSpPr>
        <p:spPr>
          <a:xfrm>
            <a:off x="1500505" y="904875"/>
            <a:ext cx="9190990" cy="53911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tx1"/>
                </a:solidFill>
              </a:rPr>
              <a:t>20k</a:t>
            </a:r>
            <a:r>
              <a:rPr kumimoji="1" lang="en-US" altLang="zh-CN" b="1">
                <a:solidFill>
                  <a:schemeClr val="tx1"/>
                </a:solidFill>
              </a:rPr>
              <a:t>Wh/10kW </a:t>
            </a:r>
            <a:r>
              <a:rPr kumimoji="1" lang="zh-CN" altLang="en-US" b="1">
                <a:solidFill>
                  <a:schemeClr val="tx1"/>
                </a:solidFill>
              </a:rPr>
              <a:t>配置下三种策略运行结果对比</a:t>
            </a:r>
            <a:endParaRPr kumimoji="1" lang="zh-CN" altLang="en-US" b="1">
              <a:solidFill>
                <a:schemeClr val="tx1"/>
              </a:solidFill>
            </a:endParaRPr>
          </a:p>
        </p:txBody>
      </p:sp>
      <p:sp>
        <p:nvSpPr>
          <p:cNvPr id="6" name="圆角矩形 2"/>
          <p:cNvSpPr/>
          <p:nvPr/>
        </p:nvSpPr>
        <p:spPr>
          <a:xfrm>
            <a:off x="1501140" y="5484495"/>
            <a:ext cx="9190990" cy="89217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zh-CN" altLang="en-US" b="1">
                <a:solidFill>
                  <a:schemeClr val="tx1"/>
                </a:solidFill>
              </a:rPr>
              <a:t>工业峰谷价差远大于居民侧，峰谷套利策略的电费收益优势显著高于家庭场景；光伏消纳策略仍保持最低的电池损耗。</a:t>
            </a:r>
            <a:endParaRPr kumimoji="1"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策略优劣势对比与场景化选型建议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412750" y="1120775"/>
          <a:ext cx="11210925" cy="5041900"/>
        </p:xfrm>
        <a:graphic>
          <a:graphicData uri="http://schemas.openxmlformats.org/drawingml/2006/table">
            <a:tbl>
              <a:tblPr/>
              <a:tblGrid>
                <a:gridCol w="2242185"/>
                <a:gridCol w="2242185"/>
                <a:gridCol w="2242185"/>
                <a:gridCol w="2242185"/>
                <a:gridCol w="2242185"/>
              </a:tblGrid>
              <a:tr h="674370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策略类型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核心逻辑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核心优势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核心劣势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适用场景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6055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光伏消纳优先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光伏出力＞负荷时充电，反之放电，全程不考虑电价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自发自用率最高；电池循环次数最少、寿命最长；控制逻辑最简单，运维成本低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未利用峰谷价差，全年电费经济性最差；晚高峰削峰能力弱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单班制白天生产、光伏与负荷匹配度高、电池寿命优先级高于电费节省的工厂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5420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峰谷电价套利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谷段低价补电，峰段高价放电，叠加光伏富余充电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工业大价差下电费节省空间最大，基准场景年省 </a:t>
                      </a:r>
                      <a:r>
                        <a:rPr lang="en-US" altLang="zh-CN" sz="1800" b="1"/>
                        <a:t>3230 </a:t>
                      </a:r>
                      <a:r>
                        <a:rPr lang="zh-CN" altLang="en-US" sz="1800" b="1"/>
                        <a:t>元；提升夜间设备负荷率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光伏自发自用率最低；电池循环次数多，衰减快；谷段集中充电抬升夜间峰值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两班制生产、当地峰谷价差</a:t>
                      </a:r>
                      <a:r>
                        <a:rPr lang="en-US" altLang="zh-CN" sz="1800" b="1"/>
                        <a:t>≥0.5 </a:t>
                      </a:r>
                      <a:r>
                        <a:rPr lang="zh-CN" altLang="en-US" sz="1800" b="1"/>
                        <a:t>元 </a:t>
                      </a:r>
                      <a:r>
                        <a:rPr lang="en-US" altLang="zh-CN" sz="1800" b="1"/>
                        <a:t>/kWh</a:t>
                      </a:r>
                      <a:r>
                        <a:rPr lang="zh-CN" altLang="en-US" sz="1800" b="1"/>
                        <a:t>、电费占运营成本比重高的工厂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6055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日前预测调度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基于次日净负荷预测，日前规划充放电时序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削峰效果最优，可降低需量电费；兼顾经济性与电池寿命；可扩展对接能源管理系统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调度逻辑最复杂，需配套负荷 </a:t>
                      </a:r>
                      <a:r>
                        <a:rPr lang="en-US" altLang="zh-CN" sz="1800" b="1"/>
                        <a:t>/ </a:t>
                      </a:r>
                      <a:r>
                        <a:rPr lang="zh-CN" altLang="en-US" sz="1800" b="1"/>
                        <a:t>光伏预测模块；极端天气预测偏差会影响收益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执行大工业需量电价、日间负荷波动大、具备基础能源管理系统的工厂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电价情景敏感性分析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428625" y="1167130"/>
          <a:ext cx="4453890" cy="4540250"/>
        </p:xfrm>
        <a:graphic>
          <a:graphicData uri="http://schemas.openxmlformats.org/drawingml/2006/table">
            <a:tbl>
              <a:tblPr/>
              <a:tblGrid>
                <a:gridCol w="1484630"/>
                <a:gridCol w="1484630"/>
                <a:gridCol w="1484630"/>
              </a:tblGrid>
              <a:tr h="898525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情景类型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核心变量调整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核心影响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9160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基准情景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峰 </a:t>
                      </a:r>
                      <a:r>
                        <a:rPr lang="en-US" altLang="zh-CN" sz="1800" b="1"/>
                        <a:t>0.85 </a:t>
                      </a:r>
                      <a:r>
                        <a:rPr lang="zh-CN" altLang="en-US" sz="1800" b="1"/>
                        <a:t>元 </a:t>
                      </a:r>
                      <a:r>
                        <a:rPr lang="en-US" altLang="zh-CN" sz="1800" b="1"/>
                        <a:t>/ </a:t>
                      </a:r>
                      <a:r>
                        <a:rPr lang="zh-CN" altLang="en-US" sz="1800" b="1"/>
                        <a:t>谷 </a:t>
                      </a:r>
                      <a:r>
                        <a:rPr lang="en-US" altLang="zh-CN" sz="1800" b="1"/>
                        <a:t>0.30 </a:t>
                      </a:r>
                      <a:r>
                        <a:rPr lang="zh-CN" altLang="en-US" sz="1800" b="1"/>
                        <a:t>元 </a:t>
                      </a:r>
                      <a:r>
                        <a:rPr lang="en-US" altLang="zh-CN" sz="1800" b="1"/>
                        <a:t>/ </a:t>
                      </a:r>
                      <a:r>
                        <a:rPr lang="zh-CN" altLang="en-US" sz="1800" b="1"/>
                        <a:t>上网 </a:t>
                      </a:r>
                      <a:r>
                        <a:rPr lang="en-US" altLang="zh-CN" sz="1800" b="1"/>
                        <a:t>0.40 </a:t>
                      </a:r>
                      <a:r>
                        <a:rPr lang="zh-CN" altLang="en-US" sz="1800" b="1"/>
                        <a:t>元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上海工业电价基准口径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4880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价差扩大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峰涨至 </a:t>
                      </a:r>
                      <a:r>
                        <a:rPr lang="en-US" altLang="zh-CN" sz="1800" b="1"/>
                        <a:t>1.0 </a:t>
                      </a:r>
                      <a:r>
                        <a:rPr lang="zh-CN" altLang="en-US" sz="1800" b="1"/>
                        <a:t>元 </a:t>
                      </a:r>
                      <a:r>
                        <a:rPr lang="en-US" altLang="zh-CN" sz="1800" b="1"/>
                        <a:t>/kWh</a:t>
                      </a:r>
                      <a:r>
                        <a:rPr lang="zh-CN" altLang="en-US" sz="1800" b="1"/>
                        <a:t>，谷降至 </a:t>
                      </a:r>
                      <a:r>
                        <a:rPr lang="en-US" altLang="zh-CN" sz="1800" b="1"/>
                        <a:t>0.25 </a:t>
                      </a:r>
                      <a:r>
                        <a:rPr lang="zh-CN" altLang="en-US" sz="1800" b="1"/>
                        <a:t>元 </a:t>
                      </a:r>
                      <a:r>
                        <a:rPr lang="en-US" altLang="zh-CN" sz="1800" b="1"/>
                        <a:t>/kWh</a:t>
                      </a:r>
                      <a:endParaRPr lang="en-US" altLang="zh-CN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放大峰谷套利收益空间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9160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上网电价下调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余电上网电价降至 </a:t>
                      </a:r>
                      <a:r>
                        <a:rPr lang="en-US" altLang="zh-CN" sz="1800" b="1"/>
                        <a:t>0.25 </a:t>
                      </a:r>
                      <a:r>
                        <a:rPr lang="zh-CN" altLang="en-US" sz="1800" b="1"/>
                        <a:t>元 </a:t>
                      </a:r>
                      <a:r>
                        <a:rPr lang="en-US" altLang="zh-CN" sz="1800" b="1"/>
                        <a:t>/kWh</a:t>
                      </a:r>
                      <a:endParaRPr lang="en-US" altLang="zh-CN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压低售电收益，倒逼储能消纳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8525"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峰段延长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峰段时长增加 </a:t>
                      </a:r>
                      <a:r>
                        <a:rPr lang="en-US" altLang="zh-CN" sz="1800" b="1"/>
                        <a:t>1 </a:t>
                      </a:r>
                      <a:r>
                        <a:rPr lang="zh-CN" altLang="en-US" sz="1800" b="1"/>
                        <a:t>小时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/>
                        <a:t>延长高价放电窗口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图片 7" descr="2c7253da5e81f9154c1a07f252feae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755" y="1464945"/>
            <a:ext cx="6030595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工厂场景仿真小结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圆角矩形 2"/>
          <p:cNvSpPr/>
          <p:nvPr>
            <p:custDataLst>
              <p:tags r:id="rId1"/>
            </p:custDataLst>
          </p:nvPr>
        </p:nvSpPr>
        <p:spPr>
          <a:xfrm>
            <a:off x="491490" y="1268095"/>
            <a:ext cx="6015355" cy="108521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家庭场景的全年仿真框架与三种充放电策略可无缝迁移至工业场景，仅替换负荷、电价、设备三类参数即可完成适配，仿真方法具备跨场景复用能力。</a:t>
            </a: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对角圆角矩形 80"/>
          <p:cNvSpPr/>
          <p:nvPr>
            <p:custDataLst>
              <p:tags r:id="rId2"/>
            </p:custDataLst>
          </p:nvPr>
        </p:nvSpPr>
        <p:spPr>
          <a:xfrm>
            <a:off x="746125" y="883920"/>
            <a:ext cx="2898140" cy="382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模型通用性强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2"/>
          <p:cNvSpPr/>
          <p:nvPr>
            <p:custDataLst>
              <p:tags r:id="rId3"/>
            </p:custDataLst>
          </p:nvPr>
        </p:nvSpPr>
        <p:spPr>
          <a:xfrm>
            <a:off x="491490" y="2924810"/>
            <a:ext cx="6015355" cy="124777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三种策略下最优储能配置均收敛至 20</a:t>
            </a:r>
            <a:r>
              <a:rPr lang="en-US" altLang="zh-CN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kWh/10kW，</a:t>
            </a:r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容量与功率过大过小都会导致性价比下降，存在明确的边际收益拐点。</a:t>
            </a:r>
            <a:endParaRPr kumimoji="1" lang="zh-CN" altLang="en-US"/>
          </a:p>
        </p:txBody>
      </p:sp>
      <p:sp>
        <p:nvSpPr>
          <p:cNvPr id="19" name="圆角矩形 2"/>
          <p:cNvSpPr/>
          <p:nvPr>
            <p:custDataLst>
              <p:tags r:id="rId4"/>
            </p:custDataLst>
          </p:nvPr>
        </p:nvSpPr>
        <p:spPr>
          <a:xfrm>
            <a:off x="491490" y="4672965"/>
            <a:ext cx="6015355" cy="131000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工业峰谷价差远大于居民侧，光储系统综合收益优于家庭场景；电价机制是影响储能经济性的核心敏感因素，价差扩大时套利策略优势会快速放大。</a:t>
            </a:r>
            <a:endParaRPr kumimoji="1" lang="zh-CN" altLang="en-US"/>
          </a:p>
        </p:txBody>
      </p:sp>
      <p:sp>
        <p:nvSpPr>
          <p:cNvPr id="4" name="对角圆角矩形 80"/>
          <p:cNvSpPr/>
          <p:nvPr>
            <p:custDataLst>
              <p:tags r:id="rId5"/>
            </p:custDataLst>
          </p:nvPr>
        </p:nvSpPr>
        <p:spPr>
          <a:xfrm>
            <a:off x="730250" y="4277995"/>
            <a:ext cx="2914015" cy="382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经济性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更显著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对角圆角矩形 80"/>
          <p:cNvSpPr/>
          <p:nvPr>
            <p:custDataLst>
              <p:tags r:id="rId6"/>
            </p:custDataLst>
          </p:nvPr>
        </p:nvSpPr>
        <p:spPr>
          <a:xfrm>
            <a:off x="730250" y="2520950"/>
            <a:ext cx="2914015" cy="382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配置收敛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清晰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ca7db7c562fee59e22a1a042242520a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1270" y="1093470"/>
            <a:ext cx="4324350" cy="2207895"/>
          </a:xfrm>
          <a:prstGeom prst="rect">
            <a:avLst/>
          </a:prstGeom>
        </p:spPr>
      </p:pic>
      <p:sp>
        <p:nvSpPr>
          <p:cNvPr id="8" name="圆角矩形 2"/>
          <p:cNvSpPr/>
          <p:nvPr/>
        </p:nvSpPr>
        <p:spPr>
          <a:xfrm>
            <a:off x="6712585" y="3885565"/>
            <a:ext cx="5295900" cy="210883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可结合工厂生产模式与运营条件匹配储能调度方案：</a:t>
            </a: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① 白天单班生产、优先保障电池寿命：选用光伏消纳优先策略</a:t>
            </a: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② 两 / 三班连续生产、追求电费最大降幅：选用峰谷电价套利策略</a:t>
            </a: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zh-CN" altLang="en-US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③ 负荷波动大、配套有能源管理系统：选用日前预测调度策略</a:t>
            </a:r>
            <a:endParaRPr lang="zh-CN" altLang="en-US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对角圆角矩形 80"/>
          <p:cNvSpPr/>
          <p:nvPr>
            <p:custDataLst>
              <p:tags r:id="rId8"/>
            </p:custDataLst>
          </p:nvPr>
        </p:nvSpPr>
        <p:spPr>
          <a:xfrm>
            <a:off x="6868160" y="3502660"/>
            <a:ext cx="3253740" cy="382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策略选型落地建议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9.65,&quot;left&quot;:37.95,&quot;top&quot;:70.1,&quot;width&quot;:249.65}"/>
</p:tagLst>
</file>

<file path=ppt/tags/tag2.xml><?xml version="1.0" encoding="utf-8"?>
<p:tagLst xmlns:p="http://schemas.openxmlformats.org/presentationml/2006/main">
  <p:tag name="KSO_WM_DIAGRAM_VIRTUALLY_FRAME" val="{&quot;height&quot;:289.65,&quot;left&quot;:37.95,&quot;top&quot;:70.1,&quot;width&quot;:249.65}"/>
</p:tagLst>
</file>

<file path=ppt/tags/tag3.xml><?xml version="1.0" encoding="utf-8"?>
<p:tagLst xmlns:p="http://schemas.openxmlformats.org/presentationml/2006/main">
  <p:tag name="KSO_WM_DIAGRAM_VIRTUALLY_FRAME" val="{&quot;height&quot;:483.27582677165356,&quot;left&quot;:4.3500031889778255,&quot;top&quot;:59.217007874015735,&quot;width&quot;:916.6499968110222}"/>
</p:tagLst>
</file>

<file path=ppt/tags/tag4.xml><?xml version="1.0" encoding="utf-8"?>
<p:tagLst xmlns:p="http://schemas.openxmlformats.org/presentationml/2006/main">
  <p:tag name="KSO_WM_DIAGRAM_VIRTUALLY_FRAME" val="{&quot;height&quot;:483.27582677165356,&quot;left&quot;:4.3500031889778255,&quot;top&quot;:59.217007874015735,&quot;width&quot;:916.6499968110222}"/>
</p:tagLst>
</file>

<file path=ppt/tags/tag5.xml><?xml version="1.0" encoding="utf-8"?>
<p:tagLst xmlns:p="http://schemas.openxmlformats.org/presentationml/2006/main">
  <p:tag name="KSO_WM_DIAGRAM_VIRTUALLY_FRAME" val="{&quot;height&quot;:401.5,&quot;left&quot;:38.7,&quot;top&quot;:69.6,&quot;width&quot;:541.45}"/>
</p:tagLst>
</file>

<file path=ppt/tags/tag6.xml><?xml version="1.0" encoding="utf-8"?>
<p:tagLst xmlns:p="http://schemas.openxmlformats.org/presentationml/2006/main">
  <p:tag name="KSO_WM_DIAGRAM_VIRTUALLY_FRAME" val="{&quot;height&quot;:401.5,&quot;left&quot;:38.7,&quot;top&quot;:69.6,&quot;width&quot;:541.45}"/>
</p:tagLst>
</file>

<file path=ppt/tags/tag7.xml><?xml version="1.0" encoding="utf-8"?>
<p:tagLst xmlns:p="http://schemas.openxmlformats.org/presentationml/2006/main">
  <p:tag name="KSO_WM_DIAGRAM_VIRTUALLY_FRAME" val="{&quot;height&quot;:401.5,&quot;left&quot;:38.7,&quot;top&quot;:69.6,&quot;width&quot;:541.45}"/>
</p:tagLst>
</file>

<file path=ppt/tags/tag8.xml><?xml version="1.0" encoding="utf-8"?>
<p:tagLst xmlns:p="http://schemas.openxmlformats.org/presentationml/2006/main">
  <p:tag name="KSO_WM_DIAGRAM_VIRTUALLY_FRAME" val="{&quot;height&quot;:401.5,&quot;left&quot;:38.7,&quot;top&quot;:69.6,&quot;width&quot;:541.45}"/>
</p:tagLst>
</file>

<file path=ppt/tags/tag9.xml><?xml version="1.0" encoding="utf-8"?>
<p:tagLst xmlns:p="http://schemas.openxmlformats.org/presentationml/2006/main">
  <p:tag name="KSO_WM_DIAGRAM_VIRTUALLY_FRAME" val="{&quot;height&quot;:401.5,&quot;left&quot;:38.7,&quot;top&quot;:69.6,&quot;width&quot;:541.45}"/>
</p:tagLst>
</file>

<file path=ppt/tags/tag10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ags/tag11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ags/tag12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ags/tag13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ags/tag14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ags/tag15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ags/tag16.xml><?xml version="1.0" encoding="utf-8"?>
<p:tagLst xmlns:p="http://schemas.openxmlformats.org/presentationml/2006/main">
  <p:tag name="KSO_WM_DIAGRAM_VIRTUALLY_FRAME" val="{&quot;height&quot;:401.5,&quot;left&quot;:38.7,&quot;top&quot;:69.6,&quot;width&quot;:473.65}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2378</Words>
  <Application>WPS 演示</Application>
  <PresentationFormat>宽屏</PresentationFormat>
  <Paragraphs>391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Office 主题​​</vt:lpstr>
      <vt:lpstr>PowerPoint 演示文稿</vt:lpstr>
      <vt:lpstr>PowerPoint 演示文稿</vt:lpstr>
      <vt:lpstr>工厂场景仿真小结</vt:lpstr>
      <vt:lpstr>PowerPoint 演示文稿</vt:lpstr>
      <vt:lpstr>工厂场景仿真小结</vt:lpstr>
      <vt:lpstr>PowerPoint 演示文稿</vt:lpstr>
      <vt:lpstr>工厂场景仿真小结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赖康</cp:lastModifiedBy>
  <cp:revision>157</cp:revision>
  <dcterms:created xsi:type="dcterms:W3CDTF">2019-06-19T02:08:00Z</dcterms:created>
  <dcterms:modified xsi:type="dcterms:W3CDTF">2026-06-16T15:20:23Z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25BC39798C924DF994A961D6F8241049_11</vt:lpwstr>
  </property>
</Properties>
</file>